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726"/>
  </p:normalViewPr>
  <p:slideViewPr>
    <p:cSldViewPr>
      <p:cViewPr varScale="1">
        <p:scale>
          <a:sx n="120" d="100"/>
          <a:sy n="120" d="100"/>
        </p:scale>
        <p:origin x="21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D33ED-4C14-40D4-8E27-1C4AB3F5D271}" type="datetimeFigureOut">
              <a:rPr lang="es-ES" smtClean="0"/>
              <a:pPr/>
              <a:t>7/10/25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D6923-E7DE-4711-9BCD-04216055ED7B}" type="slidenum">
              <a:rPr lang="es-ES" smtClean="0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Local\Downloads\Qwerty.png"/>
          <p:cNvPicPr>
            <a:picLocks noChangeAspect="1" noChangeArrowheads="1"/>
          </p:cNvPicPr>
          <p:nvPr/>
        </p:nvPicPr>
        <p:blipFill>
          <a:blip r:embed="rId2" cstate="print"/>
          <a:srcRect l="4303" t="11383" r="23619" b="39831"/>
          <a:stretch>
            <a:fillRect/>
          </a:stretch>
        </p:blipFill>
        <p:spPr bwMode="auto">
          <a:xfrm>
            <a:off x="1115616" y="2132856"/>
            <a:ext cx="6624736" cy="2160240"/>
          </a:xfrm>
          <a:prstGeom prst="rect">
            <a:avLst/>
          </a:prstGeom>
          <a:noFill/>
        </p:spPr>
      </p:pic>
      <p:sp>
        <p:nvSpPr>
          <p:cNvPr id="6" name="5 Llamada rectangular redondeada"/>
          <p:cNvSpPr/>
          <p:nvPr/>
        </p:nvSpPr>
        <p:spPr>
          <a:xfrm>
            <a:off x="6876256" y="1052736"/>
            <a:ext cx="1224136" cy="504056"/>
          </a:xfrm>
          <a:prstGeom prst="wedgeRoundRectCallout">
            <a:avLst>
              <a:gd name="adj1" fmla="val -269307"/>
              <a:gd name="adj2" fmla="val 363235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</a:t>
            </a:r>
            <a:r>
              <a:rPr lang="es-ES" sz="1400" dirty="0" err="1"/>
              <a:t>Ctrl+y</a:t>
            </a:r>
            <a:r>
              <a:rPr lang="es-ES" sz="1400" dirty="0"/>
              <a:t>” Open </a:t>
            </a:r>
            <a:r>
              <a:rPr lang="es-ES" sz="1400" dirty="0" err="1"/>
              <a:t>events</a:t>
            </a:r>
            <a:endParaRPr lang="es-ES" sz="1400" dirty="0"/>
          </a:p>
        </p:txBody>
      </p:sp>
      <p:sp>
        <p:nvSpPr>
          <p:cNvPr id="7" name="6 Llamada rectangular redondeada"/>
          <p:cNvSpPr/>
          <p:nvPr/>
        </p:nvSpPr>
        <p:spPr>
          <a:xfrm>
            <a:off x="467544" y="1052736"/>
            <a:ext cx="936104" cy="720080"/>
          </a:xfrm>
          <a:prstGeom prst="wedgeRoundRectCallout">
            <a:avLst>
              <a:gd name="adj1" fmla="val 104500"/>
              <a:gd name="adj2" fmla="val 240080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“q” Set </a:t>
            </a:r>
            <a:r>
              <a:rPr lang="es-ES" sz="1400" dirty="0" err="1"/>
              <a:t>Starttime</a:t>
            </a:r>
            <a:endParaRPr lang="es-ES" sz="1400" dirty="0"/>
          </a:p>
        </p:txBody>
      </p:sp>
      <p:sp>
        <p:nvSpPr>
          <p:cNvPr id="8" name="7 Llamada rectangular redondeada"/>
          <p:cNvSpPr/>
          <p:nvPr/>
        </p:nvSpPr>
        <p:spPr>
          <a:xfrm>
            <a:off x="3059832" y="1052736"/>
            <a:ext cx="864096" cy="720080"/>
          </a:xfrm>
          <a:prstGeom prst="wedgeRoundRectCallout">
            <a:avLst>
              <a:gd name="adj1" fmla="val -102604"/>
              <a:gd name="adj2" fmla="val 240685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“e” Set </a:t>
            </a:r>
            <a:r>
              <a:rPr lang="es-ES" sz="1400" dirty="0" err="1"/>
              <a:t>endtime</a:t>
            </a:r>
            <a:endParaRPr lang="es-ES" sz="1400" dirty="0"/>
          </a:p>
        </p:txBody>
      </p:sp>
      <p:sp>
        <p:nvSpPr>
          <p:cNvPr id="9" name="8 Llamada rectangular redondeada"/>
          <p:cNvSpPr/>
          <p:nvPr/>
        </p:nvSpPr>
        <p:spPr>
          <a:xfrm>
            <a:off x="1619672" y="1052736"/>
            <a:ext cx="1296144" cy="504056"/>
          </a:xfrm>
          <a:prstGeom prst="wedgeRoundRectCallout">
            <a:avLst>
              <a:gd name="adj1" fmla="val 3754"/>
              <a:gd name="adj2" fmla="val 357188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“w” </a:t>
            </a:r>
            <a:r>
              <a:rPr lang="es-ES" sz="1400" dirty="0" err="1"/>
              <a:t>Process</a:t>
            </a:r>
            <a:r>
              <a:rPr lang="es-ES" sz="1400" dirty="0"/>
              <a:t> &amp; </a:t>
            </a:r>
            <a:r>
              <a:rPr lang="es-ES" sz="1400" dirty="0" err="1"/>
              <a:t>Plot</a:t>
            </a:r>
            <a:endParaRPr lang="es-ES" sz="1400" dirty="0"/>
          </a:p>
        </p:txBody>
      </p:sp>
      <p:sp>
        <p:nvSpPr>
          <p:cNvPr id="11" name="10 Llamada rectangular redondeada"/>
          <p:cNvSpPr/>
          <p:nvPr/>
        </p:nvSpPr>
        <p:spPr>
          <a:xfrm>
            <a:off x="251520" y="4365104"/>
            <a:ext cx="1440160" cy="720080"/>
          </a:xfrm>
          <a:prstGeom prst="wedgeRoundRectCallout">
            <a:avLst>
              <a:gd name="adj1" fmla="val 67662"/>
              <a:gd name="adj2" fmla="val -183208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“a” </a:t>
            </a:r>
            <a:r>
              <a:rPr lang="es-ES" sz="1400" dirty="0" err="1"/>
              <a:t>Plot</a:t>
            </a:r>
            <a:r>
              <a:rPr lang="es-ES" sz="1400" dirty="0"/>
              <a:t> </a:t>
            </a:r>
            <a:r>
              <a:rPr lang="es-ES" sz="1400" dirty="0" err="1"/>
              <a:t>Spectrum</a:t>
            </a:r>
            <a:r>
              <a:rPr lang="es-ES" sz="1400" dirty="0"/>
              <a:t> </a:t>
            </a:r>
            <a:r>
              <a:rPr lang="es-ES" sz="1400" dirty="0" err="1"/>
              <a:t>over</a:t>
            </a:r>
            <a:r>
              <a:rPr lang="es-ES" sz="1400" dirty="0"/>
              <a:t>  </a:t>
            </a:r>
            <a:r>
              <a:rPr lang="es-ES" sz="1400" dirty="0" err="1"/>
              <a:t>selection</a:t>
            </a:r>
            <a:endParaRPr lang="es-ES" sz="1400" dirty="0"/>
          </a:p>
        </p:txBody>
      </p:sp>
      <p:sp>
        <p:nvSpPr>
          <p:cNvPr id="12" name="11 Llamada rectangular redondeada"/>
          <p:cNvSpPr/>
          <p:nvPr/>
        </p:nvSpPr>
        <p:spPr>
          <a:xfrm>
            <a:off x="1763688" y="5085184"/>
            <a:ext cx="1368152" cy="936104"/>
          </a:xfrm>
          <a:prstGeom prst="wedgeRoundRectCallout">
            <a:avLst>
              <a:gd name="adj1" fmla="val -20883"/>
              <a:gd name="adj2" fmla="val -189612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“z” </a:t>
            </a:r>
            <a:r>
              <a:rPr lang="es-ES" sz="1400" dirty="0" err="1"/>
              <a:t>Plot</a:t>
            </a:r>
            <a:r>
              <a:rPr lang="es-ES" sz="1400" dirty="0"/>
              <a:t> </a:t>
            </a:r>
            <a:r>
              <a:rPr lang="es-ES" sz="1400" dirty="0" err="1"/>
              <a:t>Spectrogram</a:t>
            </a:r>
            <a:r>
              <a:rPr lang="es-ES" sz="1400" dirty="0"/>
              <a:t> </a:t>
            </a:r>
            <a:r>
              <a:rPr lang="es-ES" sz="1400" dirty="0" err="1"/>
              <a:t>over</a:t>
            </a:r>
            <a:r>
              <a:rPr lang="es-ES" sz="1400" dirty="0"/>
              <a:t> </a:t>
            </a:r>
            <a:r>
              <a:rPr lang="es-ES" sz="1400" dirty="0" err="1"/>
              <a:t>selection</a:t>
            </a:r>
            <a:endParaRPr lang="es-ES" sz="1400" dirty="0"/>
          </a:p>
        </p:txBody>
      </p:sp>
      <p:sp>
        <p:nvSpPr>
          <p:cNvPr id="13" name="12 Llamada rectangular redondeada"/>
          <p:cNvSpPr/>
          <p:nvPr/>
        </p:nvSpPr>
        <p:spPr>
          <a:xfrm>
            <a:off x="7668344" y="1988840"/>
            <a:ext cx="1224136" cy="720080"/>
          </a:xfrm>
          <a:prstGeom prst="wedgeRoundRectCallout">
            <a:avLst>
              <a:gd name="adj1" fmla="val -368905"/>
              <a:gd name="adj2" fmla="val 151893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“h” </a:t>
            </a:r>
            <a:r>
              <a:rPr lang="es-ES" sz="1400" dirty="0" err="1"/>
              <a:t>Select</a:t>
            </a:r>
            <a:r>
              <a:rPr lang="es-ES" sz="1400" dirty="0"/>
              <a:t> a </a:t>
            </a:r>
            <a:r>
              <a:rPr lang="es-ES" sz="1400" dirty="0" err="1"/>
              <a:t>seismogram</a:t>
            </a:r>
            <a:endParaRPr lang="es-ES" sz="1400" dirty="0"/>
          </a:p>
        </p:txBody>
      </p:sp>
      <p:sp>
        <p:nvSpPr>
          <p:cNvPr id="14" name="13 Llamada rectangular redondeada"/>
          <p:cNvSpPr/>
          <p:nvPr/>
        </p:nvSpPr>
        <p:spPr>
          <a:xfrm>
            <a:off x="7596336" y="3212976"/>
            <a:ext cx="1224136" cy="720080"/>
          </a:xfrm>
          <a:prstGeom prst="wedgeRoundRectCallout">
            <a:avLst>
              <a:gd name="adj1" fmla="val -328236"/>
              <a:gd name="adj2" fmla="val -16716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“j” </a:t>
            </a:r>
            <a:r>
              <a:rPr lang="es-ES" sz="1400" dirty="0" err="1"/>
              <a:t>deselect</a:t>
            </a:r>
            <a:r>
              <a:rPr lang="es-ES" sz="1400" dirty="0"/>
              <a:t> a </a:t>
            </a:r>
            <a:r>
              <a:rPr lang="es-ES" sz="1400" dirty="0" err="1"/>
              <a:t>seismogram</a:t>
            </a:r>
            <a:endParaRPr lang="es-ES" sz="1400" dirty="0"/>
          </a:p>
        </p:txBody>
      </p:sp>
      <p:sp>
        <p:nvSpPr>
          <p:cNvPr id="15" name="14 Llamada rectangular redondeada"/>
          <p:cNvSpPr/>
          <p:nvPr/>
        </p:nvSpPr>
        <p:spPr>
          <a:xfrm>
            <a:off x="5508104" y="5733256"/>
            <a:ext cx="1368152" cy="720080"/>
          </a:xfrm>
          <a:prstGeom prst="wedgeRoundRectCallout">
            <a:avLst>
              <a:gd name="adj1" fmla="val -200420"/>
              <a:gd name="adj2" fmla="val -325715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</a:t>
            </a:r>
            <a:r>
              <a:rPr lang="es-ES" sz="1400" dirty="0" err="1"/>
              <a:t>Ctrl+B”Stack</a:t>
            </a:r>
            <a:r>
              <a:rPr lang="es-ES" sz="1400" dirty="0"/>
              <a:t> </a:t>
            </a:r>
            <a:r>
              <a:rPr lang="es-ES" sz="1400" dirty="0" err="1"/>
              <a:t>Seismograms</a:t>
            </a:r>
            <a:endParaRPr lang="es-ES" sz="1400" dirty="0"/>
          </a:p>
        </p:txBody>
      </p:sp>
      <p:sp>
        <p:nvSpPr>
          <p:cNvPr id="16" name="15 Llamada rectangular redondeada"/>
          <p:cNvSpPr/>
          <p:nvPr/>
        </p:nvSpPr>
        <p:spPr>
          <a:xfrm>
            <a:off x="7020272" y="5589240"/>
            <a:ext cx="1440160" cy="720080"/>
          </a:xfrm>
          <a:prstGeom prst="wedgeRoundRectCallout">
            <a:avLst>
              <a:gd name="adj1" fmla="val -270990"/>
              <a:gd name="adj2" fmla="val -306667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</a:t>
            </a:r>
            <a:r>
              <a:rPr lang="es-ES" sz="1400" dirty="0" err="1"/>
              <a:t>Ctrl+N</a:t>
            </a:r>
            <a:r>
              <a:rPr lang="es-ES" sz="1400" dirty="0"/>
              <a:t>” </a:t>
            </a:r>
            <a:r>
              <a:rPr lang="es-ES" sz="1400" dirty="0" err="1"/>
              <a:t>Plot</a:t>
            </a:r>
            <a:r>
              <a:rPr lang="es-ES" sz="1400" dirty="0"/>
              <a:t> </a:t>
            </a:r>
            <a:r>
              <a:rPr lang="es-ES" sz="1400" dirty="0" err="1"/>
              <a:t>all</a:t>
            </a:r>
            <a:r>
              <a:rPr lang="es-ES" sz="1400" dirty="0"/>
              <a:t> </a:t>
            </a:r>
            <a:r>
              <a:rPr lang="es-ES" sz="1400" dirty="0" err="1"/>
              <a:t>Seismograms</a:t>
            </a:r>
            <a:endParaRPr lang="es-ES" sz="1400" dirty="0"/>
          </a:p>
        </p:txBody>
      </p:sp>
      <p:sp>
        <p:nvSpPr>
          <p:cNvPr id="17" name="16 Llamada rectangular redondeada"/>
          <p:cNvSpPr/>
          <p:nvPr/>
        </p:nvSpPr>
        <p:spPr>
          <a:xfrm>
            <a:off x="4067944" y="980728"/>
            <a:ext cx="1224136" cy="648072"/>
          </a:xfrm>
          <a:prstGeom prst="wedgeRoundRectCallout">
            <a:avLst>
              <a:gd name="adj1" fmla="val -136511"/>
              <a:gd name="adj2" fmla="val 281266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</a:t>
            </a:r>
            <a:r>
              <a:rPr lang="es-ES" sz="1400" dirty="0" err="1"/>
              <a:t>Ctrl+R</a:t>
            </a:r>
            <a:r>
              <a:rPr lang="es-ES" sz="1400" dirty="0"/>
              <a:t>” </a:t>
            </a:r>
            <a:r>
              <a:rPr lang="es-ES" sz="1400" dirty="0" err="1"/>
              <a:t>Detect</a:t>
            </a:r>
            <a:r>
              <a:rPr lang="es-ES" sz="1400" dirty="0"/>
              <a:t> </a:t>
            </a:r>
            <a:r>
              <a:rPr lang="es-ES" sz="1400" dirty="0" err="1"/>
              <a:t>events</a:t>
            </a:r>
            <a:endParaRPr lang="es-ES" sz="1400" dirty="0"/>
          </a:p>
        </p:txBody>
      </p:sp>
      <p:sp>
        <p:nvSpPr>
          <p:cNvPr id="18" name="17 Llamada rectangular redondeada"/>
          <p:cNvSpPr/>
          <p:nvPr/>
        </p:nvSpPr>
        <p:spPr>
          <a:xfrm>
            <a:off x="5436096" y="980728"/>
            <a:ext cx="1224136" cy="648072"/>
          </a:xfrm>
          <a:prstGeom prst="wedgeRoundRectCallout">
            <a:avLst>
              <a:gd name="adj1" fmla="val -221168"/>
              <a:gd name="adj2" fmla="val 281266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</a:t>
            </a:r>
            <a:r>
              <a:rPr lang="es-ES" sz="1400" dirty="0" err="1"/>
              <a:t>Ctrl+R</a:t>
            </a:r>
            <a:r>
              <a:rPr lang="es-ES" sz="1400" dirty="0"/>
              <a:t>” </a:t>
            </a:r>
            <a:r>
              <a:rPr lang="es-ES" sz="1400" dirty="0" err="1"/>
              <a:t>Run</a:t>
            </a:r>
            <a:r>
              <a:rPr lang="es-ES" sz="1400" dirty="0"/>
              <a:t> auto-pick</a:t>
            </a:r>
          </a:p>
        </p:txBody>
      </p:sp>
      <p:sp>
        <p:nvSpPr>
          <p:cNvPr id="19" name="18 Llamada rectangular redondeada"/>
          <p:cNvSpPr/>
          <p:nvPr/>
        </p:nvSpPr>
        <p:spPr>
          <a:xfrm>
            <a:off x="3563888" y="5517232"/>
            <a:ext cx="1728192" cy="864096"/>
          </a:xfrm>
          <a:prstGeom prst="wedgeRoundRectCallout">
            <a:avLst>
              <a:gd name="adj1" fmla="val -90656"/>
              <a:gd name="adj2" fmla="val -313687"/>
              <a:gd name="adj3" fmla="val 16667"/>
            </a:avLst>
          </a:prstGeom>
          <a:solidFill>
            <a:schemeClr val="accent4">
              <a:lumMod val="60000"/>
              <a:lumOff val="40000"/>
              <a:alpha val="1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“r” Load </a:t>
            </a:r>
            <a:r>
              <a:rPr lang="es-ES" sz="1400" dirty="0" err="1"/>
              <a:t>last</a:t>
            </a:r>
            <a:r>
              <a:rPr lang="es-ES" sz="1400" dirty="0"/>
              <a:t> </a:t>
            </a:r>
            <a:r>
              <a:rPr lang="es-ES" sz="1400" dirty="0" err="1"/>
              <a:t>project</a:t>
            </a:r>
            <a:r>
              <a:rPr lang="es-ES" sz="1400" dirty="0"/>
              <a:t> and </a:t>
            </a:r>
            <a:r>
              <a:rPr lang="es-ES" sz="1400" dirty="0" err="1"/>
              <a:t>apply</a:t>
            </a:r>
            <a:r>
              <a:rPr lang="es-ES" sz="1400" dirty="0"/>
              <a:t>  </a:t>
            </a:r>
            <a:r>
              <a:rPr lang="es-ES" sz="1400" dirty="0" err="1"/>
              <a:t>search</a:t>
            </a:r>
            <a:r>
              <a:rPr lang="es-ES" sz="1400" dirty="0"/>
              <a:t> </a:t>
            </a:r>
            <a:r>
              <a:rPr lang="es-ES" sz="1400" dirty="0" err="1"/>
              <a:t>filters</a:t>
            </a:r>
            <a:endParaRPr lang="es-ES" sz="1400" dirty="0"/>
          </a:p>
        </p:txBody>
      </p:sp>
      <p:sp>
        <p:nvSpPr>
          <p:cNvPr id="10" name="9 Llamada rectangular redondeada"/>
          <p:cNvSpPr/>
          <p:nvPr/>
        </p:nvSpPr>
        <p:spPr>
          <a:xfrm>
            <a:off x="3563888" y="4437112"/>
            <a:ext cx="1224136" cy="720080"/>
          </a:xfrm>
          <a:prstGeom prst="wedgeRoundRectCallout">
            <a:avLst>
              <a:gd name="adj1" fmla="val -90863"/>
              <a:gd name="adj2" fmla="val -190263"/>
              <a:gd name="adj3" fmla="val 16667"/>
            </a:avLst>
          </a:prstGeom>
          <a:solidFill>
            <a:schemeClr val="accent4">
              <a:lumMod val="60000"/>
              <a:lumOff val="40000"/>
              <a:alpha val="87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“f” </a:t>
            </a:r>
            <a:r>
              <a:rPr lang="es-ES" sz="1400" dirty="0" err="1"/>
              <a:t>Plot</a:t>
            </a:r>
            <a:r>
              <a:rPr lang="es-ES" sz="1400" dirty="0"/>
              <a:t> </a:t>
            </a:r>
            <a:r>
              <a:rPr lang="es-ES" sz="1400" dirty="0" err="1"/>
              <a:t>Spectrum</a:t>
            </a:r>
            <a:r>
              <a:rPr lang="es-ES" sz="1400" dirty="0"/>
              <a:t> </a:t>
            </a:r>
            <a:r>
              <a:rPr lang="es-ES" sz="1400" dirty="0" err="1"/>
              <a:t>all</a:t>
            </a:r>
            <a:r>
              <a:rPr lang="es-ES" sz="1400" dirty="0"/>
              <a:t> </a:t>
            </a:r>
            <a:r>
              <a:rPr lang="es-ES" sz="1400" dirty="0" err="1"/>
              <a:t>selections</a:t>
            </a:r>
            <a:endParaRPr lang="es-ES" sz="1400" dirty="0"/>
          </a:p>
        </p:txBody>
      </p:sp>
      <p:sp>
        <p:nvSpPr>
          <p:cNvPr id="20" name="19 Llamada rectangular redondeada"/>
          <p:cNvSpPr/>
          <p:nvPr/>
        </p:nvSpPr>
        <p:spPr>
          <a:xfrm>
            <a:off x="7164288" y="4365104"/>
            <a:ext cx="1656184" cy="864096"/>
          </a:xfrm>
          <a:prstGeom prst="wedgeRoundRectCallout">
            <a:avLst>
              <a:gd name="adj1" fmla="val -229146"/>
              <a:gd name="adj2" fmla="val -121128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“m” </a:t>
            </a:r>
            <a:r>
              <a:rPr lang="es-ES" sz="1400" dirty="0" err="1"/>
              <a:t>Select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 </a:t>
            </a:r>
            <a:r>
              <a:rPr lang="es-ES" sz="1400" dirty="0" err="1"/>
              <a:t>export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TF </a:t>
            </a:r>
            <a:r>
              <a:rPr lang="es-ES" sz="1400" dirty="0" err="1"/>
              <a:t>analysis</a:t>
            </a:r>
            <a:r>
              <a:rPr lang="es-ES" sz="1400" dirty="0"/>
              <a:t> </a:t>
            </a:r>
            <a:r>
              <a:rPr lang="es-ES" sz="1400" dirty="0" err="1"/>
              <a:t>seismogram</a:t>
            </a:r>
            <a:endParaRPr lang="es-E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Local\Downloads\mous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484784"/>
            <a:ext cx="5004000" cy="5004000"/>
          </a:xfrm>
          <a:prstGeom prst="rect">
            <a:avLst/>
          </a:prstGeom>
          <a:noFill/>
        </p:spPr>
      </p:pic>
      <p:sp>
        <p:nvSpPr>
          <p:cNvPr id="5" name="4 Llamada rectangular redondeada"/>
          <p:cNvSpPr/>
          <p:nvPr/>
        </p:nvSpPr>
        <p:spPr>
          <a:xfrm>
            <a:off x="467544" y="1412776"/>
            <a:ext cx="2088232" cy="1368152"/>
          </a:xfrm>
          <a:prstGeom prst="wedgeRoundRectCallout">
            <a:avLst>
              <a:gd name="adj1" fmla="val 131940"/>
              <a:gd name="adj2" fmla="val 107799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“</a:t>
            </a:r>
            <a:r>
              <a:rPr lang="es-ES" dirty="0" err="1"/>
              <a:t>Click</a:t>
            </a:r>
            <a:r>
              <a:rPr lang="es-ES" dirty="0"/>
              <a:t> + </a:t>
            </a:r>
            <a:r>
              <a:rPr lang="es-ES" dirty="0" err="1"/>
              <a:t>drag</a:t>
            </a:r>
            <a:r>
              <a:rPr lang="es-ES" dirty="0"/>
              <a:t>” = </a:t>
            </a:r>
            <a:r>
              <a:rPr lang="es-ES" dirty="0" err="1"/>
              <a:t>select</a:t>
            </a:r>
            <a:r>
              <a:rPr lang="es-ES" dirty="0"/>
              <a:t> </a:t>
            </a:r>
            <a:r>
              <a:rPr lang="es-ES" dirty="0" err="1"/>
              <a:t>part</a:t>
            </a:r>
            <a:r>
              <a:rPr lang="es-ES" dirty="0"/>
              <a:t> of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waveform</a:t>
            </a:r>
            <a:r>
              <a:rPr lang="es-ES" dirty="0"/>
              <a:t> in </a:t>
            </a:r>
            <a:r>
              <a:rPr lang="es-ES" dirty="0">
                <a:solidFill>
                  <a:srgbClr val="FF0000"/>
                </a:solidFill>
              </a:rPr>
              <a:t>individual </a:t>
            </a:r>
            <a:r>
              <a:rPr lang="es-ES" dirty="0" err="1">
                <a:solidFill>
                  <a:srgbClr val="FF0000"/>
                </a:solidFill>
              </a:rPr>
              <a:t>seismogram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6" name="5 Llamada rectangular redondeada"/>
          <p:cNvSpPr/>
          <p:nvPr/>
        </p:nvSpPr>
        <p:spPr>
          <a:xfrm>
            <a:off x="5436096" y="1268760"/>
            <a:ext cx="2088232" cy="1368152"/>
          </a:xfrm>
          <a:prstGeom prst="wedgeRoundRectCallout">
            <a:avLst>
              <a:gd name="adj1" fmla="val -71432"/>
              <a:gd name="adj2" fmla="val 119681"/>
              <a:gd name="adj3" fmla="val 16667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“</a:t>
            </a:r>
            <a:r>
              <a:rPr lang="es-ES" dirty="0" err="1"/>
              <a:t>Click</a:t>
            </a:r>
            <a:r>
              <a:rPr lang="es-ES" dirty="0"/>
              <a:t> + </a:t>
            </a:r>
            <a:r>
              <a:rPr lang="es-ES" dirty="0" err="1"/>
              <a:t>drag</a:t>
            </a:r>
            <a:r>
              <a:rPr lang="es-ES" dirty="0"/>
              <a:t>” </a:t>
            </a:r>
            <a:r>
              <a:rPr lang="es-ES" dirty="0" err="1"/>
              <a:t>select</a:t>
            </a:r>
            <a:r>
              <a:rPr lang="es-ES" dirty="0"/>
              <a:t> </a:t>
            </a:r>
            <a:r>
              <a:rPr lang="es-ES" dirty="0" err="1"/>
              <a:t>part</a:t>
            </a:r>
            <a:r>
              <a:rPr lang="es-ES" dirty="0"/>
              <a:t> of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waveform</a:t>
            </a:r>
            <a:r>
              <a:rPr lang="es-ES" dirty="0"/>
              <a:t>,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seismograms</a:t>
            </a:r>
            <a:endParaRPr lang="es-ES" dirty="0"/>
          </a:p>
        </p:txBody>
      </p:sp>
      <p:sp>
        <p:nvSpPr>
          <p:cNvPr id="7" name="6 Llamada rectangular redondeada"/>
          <p:cNvSpPr/>
          <p:nvPr/>
        </p:nvSpPr>
        <p:spPr>
          <a:xfrm>
            <a:off x="323528" y="3212976"/>
            <a:ext cx="2088232" cy="1368152"/>
          </a:xfrm>
          <a:prstGeom prst="wedgeRoundRectCallout">
            <a:avLst>
              <a:gd name="adj1" fmla="val 138752"/>
              <a:gd name="adj2" fmla="val -22899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“Doble </a:t>
            </a:r>
            <a:r>
              <a:rPr lang="es-ES" dirty="0" err="1"/>
              <a:t>click</a:t>
            </a:r>
            <a:r>
              <a:rPr lang="es-ES" dirty="0"/>
              <a:t>” = Pick </a:t>
            </a:r>
            <a:r>
              <a:rPr lang="es-ES" dirty="0" err="1"/>
              <a:t>selected</a:t>
            </a:r>
            <a:r>
              <a:rPr lang="es-ES" dirty="0"/>
              <a:t> </a:t>
            </a:r>
            <a:r>
              <a:rPr lang="es-ES" dirty="0" err="1"/>
              <a:t>phase</a:t>
            </a:r>
            <a:r>
              <a:rPr lang="es-ES" dirty="0"/>
              <a:t> in </a:t>
            </a:r>
            <a:r>
              <a:rPr lang="es-ES" dirty="0">
                <a:solidFill>
                  <a:srgbClr val="FF0000"/>
                </a:solidFill>
              </a:rPr>
              <a:t>individual </a:t>
            </a:r>
            <a:r>
              <a:rPr lang="es-ES" dirty="0" err="1">
                <a:solidFill>
                  <a:srgbClr val="FF0000"/>
                </a:solidFill>
              </a:rPr>
              <a:t>seismogram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8" name="7 Llamada rectangular redondeada"/>
          <p:cNvSpPr/>
          <p:nvPr/>
        </p:nvSpPr>
        <p:spPr>
          <a:xfrm>
            <a:off x="467544" y="5085184"/>
            <a:ext cx="2448272" cy="1368152"/>
          </a:xfrm>
          <a:prstGeom prst="wedgeRoundRectCallout">
            <a:avLst>
              <a:gd name="adj1" fmla="val 104551"/>
              <a:gd name="adj2" fmla="val -160282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“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click</a:t>
            </a:r>
            <a:r>
              <a:rPr lang="es-ES" dirty="0"/>
              <a:t> </a:t>
            </a:r>
            <a:r>
              <a:rPr lang="es-ES" dirty="0" err="1"/>
              <a:t>over</a:t>
            </a:r>
            <a:r>
              <a:rPr lang="es-ES" dirty="0"/>
              <a:t> </a:t>
            </a:r>
            <a:r>
              <a:rPr lang="es-ES" dirty="0" err="1"/>
              <a:t>marked</a:t>
            </a:r>
            <a:r>
              <a:rPr lang="es-ES" dirty="0"/>
              <a:t> </a:t>
            </a:r>
            <a:r>
              <a:rPr lang="es-ES" dirty="0" err="1"/>
              <a:t>phase</a:t>
            </a:r>
            <a:r>
              <a:rPr lang="es-ES" dirty="0"/>
              <a:t>” = </a:t>
            </a:r>
            <a:r>
              <a:rPr lang="es-ES" dirty="0" err="1"/>
              <a:t>Remove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pick in </a:t>
            </a:r>
            <a:r>
              <a:rPr lang="es-ES" dirty="0">
                <a:solidFill>
                  <a:srgbClr val="FF0000"/>
                </a:solidFill>
              </a:rPr>
              <a:t>individual </a:t>
            </a:r>
            <a:r>
              <a:rPr lang="es-ES" dirty="0" err="1">
                <a:solidFill>
                  <a:srgbClr val="FF0000"/>
                </a:solidFill>
              </a:rPr>
              <a:t>seismogram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5940152" y="3429000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Hold</a:t>
            </a:r>
            <a:r>
              <a:rPr lang="es-ES" dirty="0"/>
              <a:t> “+” </a:t>
            </a:r>
            <a:r>
              <a:rPr lang="es-ES" dirty="0" err="1"/>
              <a:t>while</a:t>
            </a:r>
            <a:r>
              <a:rPr lang="es-ES" dirty="0"/>
              <a:t> </a:t>
            </a:r>
            <a:r>
              <a:rPr lang="es-ES" dirty="0" err="1"/>
              <a:t>Double</a:t>
            </a:r>
            <a:r>
              <a:rPr lang="es-ES" dirty="0"/>
              <a:t> </a:t>
            </a:r>
            <a:r>
              <a:rPr lang="es-ES" dirty="0" err="1"/>
              <a:t>click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attach</a:t>
            </a:r>
            <a:r>
              <a:rPr lang="es-ES" dirty="0"/>
              <a:t> ↑ </a:t>
            </a:r>
            <a:r>
              <a:rPr lang="es-ES" dirty="0" err="1"/>
              <a:t>polarity</a:t>
            </a:r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5940152" y="4149080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Hold</a:t>
            </a:r>
            <a:r>
              <a:rPr lang="es-ES" dirty="0"/>
              <a:t> “-” </a:t>
            </a:r>
            <a:r>
              <a:rPr lang="es-ES" dirty="0" err="1"/>
              <a:t>while</a:t>
            </a:r>
            <a:r>
              <a:rPr lang="es-ES" dirty="0"/>
              <a:t> </a:t>
            </a:r>
            <a:r>
              <a:rPr lang="es-ES" dirty="0" err="1"/>
              <a:t>Double</a:t>
            </a:r>
            <a:r>
              <a:rPr lang="es-ES" dirty="0"/>
              <a:t> </a:t>
            </a:r>
            <a:r>
              <a:rPr lang="es-ES" dirty="0" err="1"/>
              <a:t>click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attach</a:t>
            </a:r>
            <a:r>
              <a:rPr lang="es-ES" dirty="0"/>
              <a:t> ↓ </a:t>
            </a:r>
            <a:r>
              <a:rPr lang="es-ES" dirty="0" err="1"/>
              <a:t>polarity</a:t>
            </a:r>
            <a:endParaRPr lang="es-ES" dirty="0"/>
          </a:p>
        </p:txBody>
      </p:sp>
      <p:sp>
        <p:nvSpPr>
          <p:cNvPr id="11" name="10 CuadroTexto"/>
          <p:cNvSpPr txBox="1"/>
          <p:nvPr/>
        </p:nvSpPr>
        <p:spPr>
          <a:xfrm>
            <a:off x="6012160" y="4941168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Press</a:t>
            </a:r>
            <a:r>
              <a:rPr lang="es-ES" dirty="0"/>
              <a:t> “i”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activate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drawing</a:t>
            </a:r>
            <a:r>
              <a:rPr lang="es-ES" dirty="0"/>
              <a:t> </a:t>
            </a:r>
            <a:r>
              <a:rPr lang="es-ES" dirty="0" err="1"/>
              <a:t>refrence</a:t>
            </a:r>
            <a:r>
              <a:rPr lang="es-ES" dirty="0"/>
              <a:t> “|” and </a:t>
            </a:r>
            <a:r>
              <a:rPr lang="es-ES" dirty="0" err="1"/>
              <a:t>press</a:t>
            </a:r>
            <a:r>
              <a:rPr lang="es-ES" dirty="0"/>
              <a:t> “o”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deactivate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3 Tabla">
            <a:extLst>
              <a:ext uri="{FF2B5EF4-FFF2-40B4-BE49-F238E27FC236}">
                <a16:creationId xmlns:a16="http://schemas.microsoft.com/office/drawing/2014/main" id="{83428FBD-B065-50F3-FE0E-E7332F914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555345"/>
              </p:ext>
            </p:extLst>
          </p:nvPr>
        </p:nvGraphicFramePr>
        <p:xfrm>
          <a:off x="1979712" y="980728"/>
          <a:ext cx="5472608" cy="4292448"/>
        </p:xfrm>
        <a:graphic>
          <a:graphicData uri="http://schemas.openxmlformats.org/drawingml/2006/table">
            <a:tbl>
              <a:tblPr/>
              <a:tblGrid>
                <a:gridCol w="2522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0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Shortcut</a:t>
                      </a:r>
                      <a:endParaRPr lang="es-E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Action</a:t>
                      </a:r>
                      <a:endParaRPr lang="es-E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'a'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Compute trace </a:t>
                      </a:r>
                      <a:r>
                        <a:rPr lang="es-ES" sz="1400" dirty="0" err="1"/>
                        <a:t>spectrum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'f'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Compute </a:t>
                      </a:r>
                      <a:r>
                        <a:rPr lang="es-ES" sz="1400" dirty="0" err="1"/>
                        <a:t>all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spectrums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'z'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Compute </a:t>
                      </a:r>
                      <a:r>
                        <a:rPr lang="es-ES" sz="1400" dirty="0" err="1"/>
                        <a:t>Scalogram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'q'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Set </a:t>
                      </a:r>
                      <a:r>
                        <a:rPr lang="es-ES" sz="1400" dirty="0" err="1"/>
                        <a:t>Start</a:t>
                      </a:r>
                      <a:r>
                        <a:rPr lang="es-ES" sz="1400" dirty="0"/>
                        <a:t> Time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'w'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Process</a:t>
                      </a:r>
                      <a:r>
                        <a:rPr lang="es-ES" sz="1400" dirty="0"/>
                        <a:t> and </a:t>
                      </a:r>
                      <a:r>
                        <a:rPr lang="es-ES" sz="1400" dirty="0" err="1"/>
                        <a:t>Plot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'e'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Set </a:t>
                      </a:r>
                      <a:r>
                        <a:rPr lang="es-ES" sz="1400" dirty="0" err="1"/>
                        <a:t>End</a:t>
                      </a:r>
                      <a:r>
                        <a:rPr lang="es-ES" sz="1400" dirty="0"/>
                        <a:t> Time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‘i’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Activate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Multicursor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‘o’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Deactivate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Multicursor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‘r’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Load </a:t>
                      </a:r>
                      <a:r>
                        <a:rPr lang="es-ES" sz="1400" dirty="0" err="1"/>
                        <a:t>last</a:t>
                      </a:r>
                      <a:r>
                        <a:rPr lang="es-ES" sz="1400" dirty="0"/>
                        <a:t> Project and </a:t>
                      </a:r>
                      <a:r>
                        <a:rPr lang="es-ES" sz="1400" dirty="0" err="1"/>
                        <a:t>apply</a:t>
                      </a:r>
                      <a:r>
                        <a:rPr lang="es-ES" sz="1400" baseline="0" dirty="0"/>
                        <a:t> </a:t>
                      </a:r>
                      <a:r>
                        <a:rPr lang="es-ES" sz="1400" baseline="0" dirty="0" err="1"/>
                        <a:t>filters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‘u’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Open </a:t>
                      </a:r>
                      <a:r>
                        <a:rPr lang="es-ES" sz="1400" dirty="0" err="1"/>
                        <a:t>Uncertainity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picking</a:t>
                      </a:r>
                      <a:r>
                        <a:rPr lang="es-ES" sz="1400" dirty="0"/>
                        <a:t> box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‘m’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Select</a:t>
                      </a:r>
                      <a:r>
                        <a:rPr lang="es-ES" sz="1400" baseline="0" dirty="0"/>
                        <a:t> </a:t>
                      </a:r>
                      <a:r>
                        <a:rPr lang="es-ES" sz="1400" baseline="0" dirty="0" err="1"/>
                        <a:t>to</a:t>
                      </a:r>
                      <a:r>
                        <a:rPr lang="es-ES" sz="1400" baseline="0" dirty="0"/>
                        <a:t> </a:t>
                      </a:r>
                      <a:r>
                        <a:rPr lang="es-ES" sz="1400" baseline="0" dirty="0" err="1"/>
                        <a:t>export</a:t>
                      </a:r>
                      <a:r>
                        <a:rPr lang="es-ES" sz="1400" baseline="0" dirty="0"/>
                        <a:t> </a:t>
                      </a:r>
                      <a:r>
                        <a:rPr lang="es-ES" sz="1400" baseline="0" dirty="0" err="1"/>
                        <a:t>waveform</a:t>
                      </a:r>
                      <a:r>
                        <a:rPr lang="es-ES" sz="1400" baseline="0" dirty="0"/>
                        <a:t> </a:t>
                      </a:r>
                      <a:r>
                        <a:rPr lang="es-ES" sz="1400" baseline="0" dirty="0" err="1"/>
                        <a:t>to</a:t>
                      </a:r>
                      <a:r>
                        <a:rPr lang="es-ES" sz="1400" baseline="0" dirty="0"/>
                        <a:t> TF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‘h’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Select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specific</a:t>
                      </a:r>
                      <a:r>
                        <a:rPr lang="es-ES" sz="1400" dirty="0"/>
                        <a:t> trace </a:t>
                      </a:r>
                      <a:r>
                        <a:rPr lang="es-ES" sz="1400" dirty="0" err="1"/>
                        <a:t>to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Process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440880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‘j’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Deselect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specific</a:t>
                      </a:r>
                      <a:r>
                        <a:rPr lang="es-ES" sz="1400" dirty="0"/>
                        <a:t> trace </a:t>
                      </a:r>
                      <a:r>
                        <a:rPr lang="es-ES" sz="1400" dirty="0" err="1"/>
                        <a:t>to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Process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5651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‘p’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Plot</a:t>
                      </a:r>
                      <a:r>
                        <a:rPr lang="es-ES" sz="1400" dirty="0"/>
                        <a:t> Record </a:t>
                      </a:r>
                      <a:r>
                        <a:rPr lang="es-ES" sz="1400" dirty="0" err="1"/>
                        <a:t>Section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‘d’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Deselect</a:t>
                      </a:r>
                      <a:r>
                        <a:rPr lang="es-ES" sz="1400" dirty="0"/>
                        <a:t> trace chop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737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41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3 Tabla">
            <a:extLst>
              <a:ext uri="{FF2B5EF4-FFF2-40B4-BE49-F238E27FC236}">
                <a16:creationId xmlns:a16="http://schemas.microsoft.com/office/drawing/2014/main" id="{813C39B0-FCC5-9F5E-4ADA-A3CD86E66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125008"/>
              </p:ext>
            </p:extLst>
          </p:nvPr>
        </p:nvGraphicFramePr>
        <p:xfrm>
          <a:off x="2051720" y="1268760"/>
          <a:ext cx="5436604" cy="3432696"/>
        </p:xfrm>
        <a:graphic>
          <a:graphicData uri="http://schemas.openxmlformats.org/drawingml/2006/table">
            <a:tbl>
              <a:tblPr/>
              <a:tblGrid>
                <a:gridCol w="2505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Shortcut</a:t>
                      </a:r>
                      <a:endParaRPr lang="es-E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Action</a:t>
                      </a:r>
                      <a:endParaRPr lang="es-E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Ctrl+D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Run Script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53370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Ctrl+L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Open Macro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Ctrl+U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View </a:t>
                      </a:r>
                      <a:r>
                        <a:rPr lang="es-ES" sz="1400" dirty="0" err="1"/>
                        <a:t>Picks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Ctrl+C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Clean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events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detected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Ctrl+M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Concatenate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Seismograms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Ctrl+P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Open </a:t>
                      </a:r>
                      <a:r>
                        <a:rPr lang="es-ES" sz="1400" dirty="0" err="1"/>
                        <a:t>phases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comboBox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91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Ctrl+K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Save </a:t>
                      </a:r>
                      <a:r>
                        <a:rPr lang="fr-FR" sz="1400" dirty="0" err="1"/>
                        <a:t>CFs</a:t>
                      </a:r>
                      <a:r>
                        <a:rPr lang="fr-FR" sz="1400" dirty="0"/>
                        <a:t> (STA/LTA, </a:t>
                      </a:r>
                      <a:r>
                        <a:rPr lang="fr-FR" sz="1400" dirty="0" err="1"/>
                        <a:t>Wavelet</a:t>
                      </a:r>
                      <a:r>
                        <a:rPr lang="fr-FR" sz="1400" dirty="0"/>
                        <a:t> CF, </a:t>
                      </a:r>
                      <a:r>
                        <a:rPr lang="fr-FR" sz="1400" dirty="0" err="1"/>
                        <a:t>Envelope</a:t>
                      </a:r>
                      <a:r>
                        <a:rPr lang="fr-FR" sz="1400" dirty="0"/>
                        <a:t>, </a:t>
                      </a:r>
                      <a:r>
                        <a:rPr lang="fr-FR" sz="1400" dirty="0" err="1"/>
                        <a:t>Entropy</a:t>
                      </a:r>
                      <a:r>
                        <a:rPr lang="fr-FR" sz="1400" dirty="0"/>
                        <a:t>…)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Ctrl+N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Plot_all_seismograms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Ctrl+B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Stack_all_seismograms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Ctrl+I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Deselect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all</a:t>
                      </a:r>
                      <a:endParaRPr lang="es-ES" sz="1400" dirty="0"/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404274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'</a:t>
                      </a:r>
                      <a:r>
                        <a:rPr lang="es-ES" sz="1400" b="1" dirty="0" err="1"/>
                        <a:t>Ctrl+J</a:t>
                      </a:r>
                      <a:r>
                        <a:rPr lang="es-ES" sz="1400" b="1" dirty="0"/>
                        <a:t>'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Deselect chop from page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560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450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>
            <a:extLst>
              <a:ext uri="{FF2B5EF4-FFF2-40B4-BE49-F238E27FC236}">
                <a16:creationId xmlns:a16="http://schemas.microsoft.com/office/drawing/2014/main" id="{805B9AA5-D7EB-CCC2-1B1C-91E87FD66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906931"/>
              </p:ext>
            </p:extLst>
          </p:nvPr>
        </p:nvGraphicFramePr>
        <p:xfrm>
          <a:off x="1835696" y="2060848"/>
          <a:ext cx="5472608" cy="1877946"/>
        </p:xfrm>
        <a:graphic>
          <a:graphicData uri="http://schemas.openxmlformats.org/drawingml/2006/table">
            <a:tbl>
              <a:tblPr/>
              <a:tblGrid>
                <a:gridCol w="1639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802">
                  <a:extLst>
                    <a:ext uri="{9D8B030D-6E8A-4147-A177-3AD203B41FA5}">
                      <a16:colId xmlns:a16="http://schemas.microsoft.com/office/drawing/2014/main" val="358380453"/>
                    </a:ext>
                  </a:extLst>
                </a:gridCol>
              </a:tblGrid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Shortcut</a:t>
                      </a:r>
                      <a:endParaRPr lang="es-E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Phase</a:t>
                      </a:r>
                      <a:endParaRPr lang="es-E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Polarity</a:t>
                      </a:r>
                      <a:endParaRPr lang="es-E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1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?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2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Up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Down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4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?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5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Up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68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6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Down</a:t>
                      </a:r>
                    </a:p>
                  </a:txBody>
                  <a:tcPr marL="54919" marR="54919" marT="27459" marB="274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6097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400</Words>
  <Application>Microsoft Macintosh PowerPoint</Application>
  <PresentationFormat>On-screen Show (4:3)</PresentationFormat>
  <Paragraphs>99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Geofísica</dc:creator>
  <cp:lastModifiedBy>Roberto Cabieces</cp:lastModifiedBy>
  <cp:revision>21</cp:revision>
  <dcterms:created xsi:type="dcterms:W3CDTF">2022-10-21T06:45:13Z</dcterms:created>
  <dcterms:modified xsi:type="dcterms:W3CDTF">2025-10-07T09:49:51Z</dcterms:modified>
</cp:coreProperties>
</file>